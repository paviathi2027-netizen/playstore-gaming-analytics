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notesSlides/notesSlide9.xml" ContentType="application/vnd.openxmlformats-officedocument.presentationml.notesSlide+xml"/>
  <Override PartName="/ppt/charts/chart5.xml" ContentType="application/vnd.openxmlformats-officedocument.drawingml.chart+xml"/>
  <Override PartName="/ppt/notesSlides/notesSlide10.xml" ContentType="application/vnd.openxmlformats-officedocument.presentationml.notes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E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Type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E75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718-4A41-A53A-80ABAC5F5B0F}"/>
              </c:ext>
            </c:extLst>
          </c:dPt>
          <c:dPt>
            <c:idx val="1"/>
            <c:bubble3D val="0"/>
            <c:spPr>
              <a:solidFill>
                <a:srgbClr val="D9770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718-4A41-A53A-80ABAC5F5B0F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5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718-4A41-A53A-80ABAC5F5B0F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5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718-4A41-A53A-80ABAC5F5B0F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Free</c:v>
                </c:pt>
                <c:pt idx="1">
                  <c:v>Paid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93</c:v>
                </c:pt>
                <c:pt idx="1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718-4A41-A53A-80ABAC5F5B0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span"/>
    <c:showDLblsOverMax val="1"/>
  </c:chart>
  <c:spPr>
    <a:solidFill>
      <a:srgbClr val="F0F4F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Installs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C7D-4B37-B4C0-AE5FFBAB5455}"/>
              </c:ext>
            </c:extLst>
          </c:dPt>
          <c:dPt>
            <c:idx val="1"/>
            <c:invertIfNegative val="0"/>
            <c:bubble3D val="0"/>
            <c:spPr>
              <a:solidFill>
                <a:srgbClr val="D9770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C7D-4B37-B4C0-AE5FFBAB5455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C2B4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Free Apps</c:v>
                </c:pt>
                <c:pt idx="1">
                  <c:v>Paid Apps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15000000</c:v>
                </c:pt>
                <c:pt idx="1">
                  <c:v>48000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C7D-4B37-B4C0-AE5FFBAB545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0F4FA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Free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Everyone</c:v>
                </c:pt>
                <c:pt idx="1">
                  <c:v>Teen</c:v>
                </c:pt>
                <c:pt idx="2">
                  <c:v>Mature 17+</c:v>
                </c:pt>
                <c:pt idx="3">
                  <c:v>Adults Only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680</c:v>
                </c:pt>
                <c:pt idx="1">
                  <c:v>42</c:v>
                </c:pt>
                <c:pt idx="2">
                  <c:v>18</c:v>
                </c:pt>
                <c:pt idx="3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3CA-4671-87BE-8E7412349E8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Paid</c:v>
                </c:pt>
              </c:strCache>
            </c:strRef>
          </c:tx>
          <c:spPr>
            <a:solidFill>
              <a:srgbClr val="D97706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Everyone</c:v>
                </c:pt>
                <c:pt idx="1">
                  <c:v>Teen</c:v>
                </c:pt>
                <c:pt idx="2">
                  <c:v>Mature 17+</c:v>
                </c:pt>
                <c:pt idx="3">
                  <c:v>Adults Only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52</c:v>
                </c:pt>
                <c:pt idx="1">
                  <c:v>8</c:v>
                </c:pt>
                <c:pt idx="2">
                  <c:v>4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3CA-4671-87BE-8E7412349E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solidFill>
      <a:srgbClr val="F0F4FA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Installs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Subway Surfers</c:v>
                </c:pt>
                <c:pt idx="1">
                  <c:v>Temple Run 2</c:v>
                </c:pt>
                <c:pt idx="2">
                  <c:v>My Talking Tom</c:v>
                </c:pt>
                <c:pt idx="3">
                  <c:v>Clash of Clans</c:v>
                </c:pt>
                <c:pt idx="4">
                  <c:v>Hill Climb Racing</c:v>
                </c:pt>
                <c:pt idx="5">
                  <c:v>Candy Crush Saga</c:v>
                </c:pt>
                <c:pt idx="6">
                  <c:v>8 Ball Pool</c:v>
                </c:pt>
                <c:pt idx="7">
                  <c:v>Pou</c:v>
                </c:pt>
                <c:pt idx="8">
                  <c:v>Despicable Me</c:v>
                </c:pt>
                <c:pt idx="9">
                  <c:v>Fruit Ninja Free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1000</c:v>
                </c:pt>
                <c:pt idx="1">
                  <c:v>500</c:v>
                </c:pt>
                <c:pt idx="2">
                  <c:v>500</c:v>
                </c:pt>
                <c:pt idx="3">
                  <c:v>500</c:v>
                </c:pt>
                <c:pt idx="4">
                  <c:v>500</c:v>
                </c:pt>
                <c:pt idx="5">
                  <c:v>500</c:v>
                </c:pt>
                <c:pt idx="6">
                  <c:v>100</c:v>
                </c:pt>
                <c:pt idx="7">
                  <c:v>100</c:v>
                </c:pt>
                <c:pt idx="8">
                  <c:v>100</c:v>
                </c:pt>
                <c:pt idx="9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CE3-40D3-9A49-206C0D3ECD8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0F4FA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Number of Paid Apps</c:v>
                </c:pt>
              </c:strCache>
            </c:strRef>
          </c:tx>
          <c:spPr>
            <a:solidFill>
              <a:srgbClr val="D9770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2A8-48C1-A64F-17F100AEC898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E2A8-48C1-A64F-17F100AEC898}"/>
              </c:ext>
            </c:extLst>
          </c:dPt>
          <c:dPt>
            <c:idx val="2"/>
            <c:invertIfNegative val="0"/>
            <c:bubble3D val="0"/>
            <c:spPr>
              <a:solidFill>
                <a:srgbClr val="C0562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2A8-48C1-A64F-17F100AEC898}"/>
              </c:ext>
            </c:extLst>
          </c:dPt>
          <c:dPt>
            <c:idx val="3"/>
            <c:invertIfNegative val="0"/>
            <c:bubble3D val="0"/>
            <c:spPr>
              <a:solidFill>
                <a:srgbClr val="B7791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2A8-48C1-A64F-17F100AEC898}"/>
              </c:ext>
            </c:extLst>
          </c:dPt>
          <c:dPt>
            <c:idx val="4"/>
            <c:invertIfNegative val="0"/>
            <c:bubble3D val="0"/>
            <c:spPr>
              <a:solidFill>
                <a:srgbClr val="92400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E2A8-48C1-A64F-17F100AEC898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C2B4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$0 – $1</c:v>
                </c:pt>
                <c:pt idx="1">
                  <c:v>$1 – $3</c:v>
                </c:pt>
                <c:pt idx="2">
                  <c:v>$3 – $5</c:v>
                </c:pt>
                <c:pt idx="3">
                  <c:v>$5 – $10</c:v>
                </c:pt>
                <c:pt idx="4">
                  <c:v>$10+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180</c:v>
                </c:pt>
                <c:pt idx="1">
                  <c:v>120</c:v>
                </c:pt>
                <c:pt idx="2">
                  <c:v>55</c:v>
                </c:pt>
                <c:pt idx="3">
                  <c:v>30</c:v>
                </c:pt>
                <c:pt idx="4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E2A8-48C1-A64F-17F100AEC89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0F4FA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C2B4A"/>
                </a:solidFill>
                <a:latin typeface="Arial"/>
              </a:defRPr>
            </a:pPr>
            <a:r>
              <a:rPr lang="en-IN" sz="1100" b="0" i="0" u="none" strike="noStrike">
                <a:solidFill>
                  <a:srgbClr val="1C2B4A"/>
                </a:solidFill>
                <a:latin typeface="Arial"/>
              </a:rPr>
              <a:t>Average User Rating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Rating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546-4F14-859C-2D109C81153B}"/>
              </c:ext>
            </c:extLst>
          </c:dPt>
          <c:dPt>
            <c:idx val="1"/>
            <c:invertIfNegative val="0"/>
            <c:bubble3D val="0"/>
            <c:spPr>
              <a:solidFill>
                <a:srgbClr val="D9770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546-4F14-859C-2D109C81153B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C2B4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Free</c:v>
                </c:pt>
                <c:pt idx="1">
                  <c:v>Paid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4.09</c:v>
                </c:pt>
                <c:pt idx="1">
                  <c:v>4.22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546-4F14-859C-2D109C81153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0F4FA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C2B4A"/>
                </a:solidFill>
                <a:latin typeface="Arial"/>
              </a:defRPr>
            </a:pPr>
            <a:r>
              <a:rPr lang="en-IN" sz="1100" b="0" i="0" u="none" strike="noStrike">
                <a:solidFill>
                  <a:srgbClr val="1C2B4A"/>
                </a:solidFill>
                <a:latin typeface="Arial"/>
              </a:rPr>
              <a:t>Average App Size (MB)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Size MB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F28-482B-A9B7-CC34D3D96838}"/>
              </c:ext>
            </c:extLst>
          </c:dPt>
          <c:dPt>
            <c:idx val="1"/>
            <c:invertIfNegative val="0"/>
            <c:bubble3D val="0"/>
            <c:spPr>
              <a:solidFill>
                <a:srgbClr val="D9770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F28-482B-A9B7-CC34D3D96838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C2B4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Free</c:v>
                </c:pt>
                <c:pt idx="1">
                  <c:v>Paid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22.4</c:v>
                </c:pt>
                <c:pt idx="1">
                  <c:v>31.8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F28-482B-A9B7-CC34D3D9683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0F4F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68030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309360" y="0"/>
            <a:ext cx="2834640" cy="5143500"/>
          </a:xfrm>
          <a:prstGeom prst="rect">
            <a:avLst/>
          </a:prstGeom>
          <a:solidFill>
            <a:srgbClr val="162236"/>
          </a:solidFill>
          <a:ln w="12700">
            <a:solidFill>
              <a:srgbClr val="16223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594360"/>
            <a:ext cx="2286000" cy="36576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777240"/>
            <a:ext cx="1463040" cy="3657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03720" y="1554480"/>
            <a:ext cx="1828800" cy="1828800"/>
          </a:xfrm>
          <a:prstGeom prst="ellipse">
            <a:avLst/>
          </a:prstGeom>
          <a:solidFill>
            <a:srgbClr val="1A3356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0" y="1691640"/>
            <a:ext cx="1554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🎮</a:t>
            </a:r>
            <a:endParaRPr lang="en-US" sz="5200" dirty="0"/>
          </a:p>
        </p:txBody>
      </p:sp>
      <p:sp>
        <p:nvSpPr>
          <p:cNvPr id="8" name="Shape 6"/>
          <p:cNvSpPr/>
          <p:nvPr/>
        </p:nvSpPr>
        <p:spPr>
          <a:xfrm>
            <a:off x="6766560" y="3840480"/>
            <a:ext cx="274320" cy="27432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78040" y="3840480"/>
            <a:ext cx="274320" cy="27432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589520" y="3840480"/>
            <a:ext cx="274320" cy="274320"/>
          </a:xfrm>
          <a:prstGeom prst="ellipse">
            <a:avLst/>
          </a:prstGeom>
          <a:solidFill>
            <a:srgbClr val="253F65"/>
          </a:solidFill>
          <a:ln w="12700">
            <a:solidFill>
              <a:srgbClr val="253F6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777240"/>
            <a:ext cx="2377440" cy="24688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777240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CAPSTONE PROJECT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02336" y="1143000"/>
            <a:ext cx="56692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Playstore Gaming</a:t>
            </a:r>
            <a:endParaRPr lang="en-US" sz="4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402336" y="2697480"/>
            <a:ext cx="5577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C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Insights for New Gaming App Launch on Google Play Store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02336" y="3200400"/>
            <a:ext cx="5577840" cy="2743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2336" y="3310128"/>
            <a:ext cx="5577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Company:  </a:t>
            </a:r>
            <a:r>
              <a:rPr lang="en-US" sz="1050" dirty="0">
                <a:solidFill>
                  <a:srgbClr val="8C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GameVerse Studios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02336" y="3593592"/>
            <a:ext cx="5577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Topic:  </a:t>
            </a:r>
            <a:r>
              <a:rPr lang="en-US" sz="1050" dirty="0">
                <a:solidFill>
                  <a:srgbClr val="8C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vs. Paid App Classification  |  Play Store Dataset 2010–2018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02336" y="3877056"/>
            <a:ext cx="5577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1: </a:t>
            </a:r>
            <a:r>
              <a:rPr lang="en-US" sz="105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Akshit</a:t>
            </a:r>
            <a:r>
              <a:rPr lang="en-US" sz="105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Chouhan</a:t>
            </a:r>
            <a:r>
              <a:rPr lang="en-US" sz="1050" dirty="0">
                <a:solidFill>
                  <a:srgbClr val="8C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02336" y="4160520"/>
            <a:ext cx="5577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C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05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2:  </a:t>
            </a:r>
            <a:r>
              <a:rPr lang="en-US" sz="1050" dirty="0">
                <a:solidFill>
                  <a:srgbClr val="8C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Pavithra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F1E35"/>
          </a:solidFill>
          <a:ln w="12700">
            <a:solidFill>
              <a:srgbClr val="0F1E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C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to: Client  |  Classification &amp; Regression Analysis  |  Academic ML Capstone Project</a:t>
            </a:r>
            <a:endParaRPr lang="en-US" sz="9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9E72F3E-B0F5-F9EF-FEF6-7A8C97BCC106}"/>
              </a:ext>
            </a:extLst>
          </p:cNvPr>
          <p:cNvSpPr txBox="1"/>
          <p:nvPr/>
        </p:nvSpPr>
        <p:spPr>
          <a:xfrm>
            <a:off x="402336" y="4476988"/>
            <a:ext cx="161637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solidFill>
                  <a:srgbClr val="00CED1"/>
                </a:solidFill>
              </a:rPr>
              <a:t>Batch Code</a:t>
            </a:r>
            <a:r>
              <a:rPr lang="en-US" sz="1050" dirty="0"/>
              <a:t>: </a:t>
            </a:r>
            <a:r>
              <a:rPr lang="en-IN" sz="105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DA614S61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0" y="481888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28600" y="481888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GameVerse Studios  |  Play Store Gaming Analytics  |  ML Capstone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8600" y="73152"/>
            <a:ext cx="3291840" cy="24688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8" name="Text 6"/>
          <p:cNvSpPr/>
          <p:nvPr/>
        </p:nvSpPr>
        <p:spPr>
          <a:xfrm>
            <a:off x="228600" y="73152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BUSINESS PROBLEM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28600" y="530352"/>
            <a:ext cx="8686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Business Problem?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228600" y="1115568"/>
            <a:ext cx="8686800" cy="658368"/>
          </a:xfrm>
          <a:prstGeom prst="rect">
            <a:avLst/>
          </a:prstGeom>
          <a:solidFill>
            <a:srgbClr val="EBF3FB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28600" y="1115568"/>
            <a:ext cx="91440" cy="65836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161288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SITUATION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11480" y="137160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GameVerse Studios is preparing to launch its first gaming app on the Google Play Store. With 9,364+ competing apps already in market, the company faces a critical strategic crossroads — and currently lacks the data intelligence to answer its most important launch questions.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28600" y="1874520"/>
            <a:ext cx="8686800" cy="402336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1892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Question:  </a:t>
            </a: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"Should our new game be Free or Paid? Who is our audience? What does a successful gaming app look like — and can we predict it?"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28600" y="2395728"/>
            <a:ext cx="2075688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2395728"/>
            <a:ext cx="2075688" cy="2560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1752" y="241401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1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20040" y="2706624"/>
            <a:ext cx="1892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Monetisation Framework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0040" y="2999232"/>
            <a:ext cx="1892808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structured, evidence-based framework to evaluate Free vs. Paid model for maximising user acquisition.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414016" y="2395728"/>
            <a:ext cx="2075688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414016" y="2395728"/>
            <a:ext cx="2075688" cy="25603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87168" y="241401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2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505456" y="2706624"/>
            <a:ext cx="1892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Audience Intelligence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505456" y="2999232"/>
            <a:ext cx="1892808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clarity on which content rating segment — Everyone, Teen or Mature 17+ — drives the highest install volumes.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99432" y="2395728"/>
            <a:ext cx="2075688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99432" y="2395728"/>
            <a:ext cx="2075688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72584" y="241401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3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690872" y="2706624"/>
            <a:ext cx="1892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Competitive Benchmarking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690872" y="2999232"/>
            <a:ext cx="1892808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analysis of what top-performing gaming apps look like — their size, pricing, review volume, and profile.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784848" y="2395728"/>
            <a:ext cx="2075688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784848" y="2395728"/>
            <a:ext cx="2075688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0" y="241401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4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876288" y="2706624"/>
            <a:ext cx="1892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Predictive Capability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876288" y="2999232"/>
            <a:ext cx="1892808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predict whether the planned app features will succeed as Free or Paid. Every decision is based on intuition.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0" y="481888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28600" y="481888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GameVerse Studios  |  Play Store Gaming Analytics  |  ML Capstone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8600" y="73152"/>
            <a:ext cx="3291840" cy="24688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73152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OBJECTIVES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28600" y="530352"/>
            <a:ext cx="8686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Objectives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228600" y="1188720"/>
            <a:ext cx="4297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28600" y="1188720"/>
            <a:ext cx="475488" cy="10058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" y="1188720"/>
            <a:ext cx="4754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95528" y="1280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Monetisation Strategy Optimisation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5528" y="1572768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whether the new game should launch as Free or Paid by analysing which model delivers higher installs, better ratings, and stronger engagement.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28600" y="2304288"/>
            <a:ext cx="4297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28600" y="2304288"/>
            <a:ext cx="475488" cy="100584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" y="2304288"/>
            <a:ext cx="4754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795528" y="23957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Monetisation Profiling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95528" y="2688336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predictive classification model to predict whether a gaming app should be Free or Paid based on its features — size, genre, content rating, and reviews.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28600" y="3419856"/>
            <a:ext cx="4297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28600" y="3419856"/>
            <a:ext cx="475488" cy="10058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8600" y="3419856"/>
            <a:ext cx="4754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795528" y="351129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Audience Identification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95528" y="3803904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which content rating segment — Everyone, Teen, or Mature 17+ — drives the highest install volumes and is most receptive to a new app launch.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09160" y="1188720"/>
            <a:ext cx="4297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1188720"/>
            <a:ext cx="475488" cy="1005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1188720"/>
            <a:ext cx="4754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5276088" y="1280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Sensitivity Analysis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276088" y="1572768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Paid gaming apps, determine the optimal price bracket where install volume remains competitive and user demand does not drop off sharply.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09160" y="2304288"/>
            <a:ext cx="4297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9160" y="2304288"/>
            <a:ext cx="475488" cy="10058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09160" y="2304288"/>
            <a:ext cx="4754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900" dirty="0"/>
          </a:p>
        </p:txBody>
      </p:sp>
      <p:sp>
        <p:nvSpPr>
          <p:cNvPr id="33" name="Text 31"/>
          <p:cNvSpPr/>
          <p:nvPr/>
        </p:nvSpPr>
        <p:spPr>
          <a:xfrm>
            <a:off x="5276088" y="23957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Classification for Launch Decision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276088" y="2688336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Logistic Regression and KNN to build a model that predicts the optimal monetisation type of any new gaming app with statistical confidence.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0" y="481888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28600" y="481888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GameVerse Studios  |  Play Store Gaming Analytics  |  ML Capstone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8600" y="73152"/>
            <a:ext cx="3108960" cy="24688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73152"/>
            <a:ext cx="3108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DATASET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28600" y="530352"/>
            <a:ext cx="8686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Dataset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228600" y="1115568"/>
            <a:ext cx="8686800" cy="27432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133856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Play Store Apps Dataset  |  Kaggle  </a:t>
            </a:r>
            <a:r>
              <a:rPr lang="en-US" sz="95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 </a:t>
            </a: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Gaming Applications  </a:t>
            </a:r>
            <a:r>
              <a:rPr lang="en-US" sz="95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Period: </a:t>
            </a: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 – 2018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28600" y="1508760"/>
            <a:ext cx="20116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28600" y="1508760"/>
            <a:ext cx="2011680" cy="16459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" y="1673352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9,364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228600" y="2221992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Apps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423160" y="1508760"/>
            <a:ext cx="20116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423160" y="1508760"/>
            <a:ext cx="2011680" cy="16459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23160" y="1673352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8,717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2423160" y="2221992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Apps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17720" y="1508760"/>
            <a:ext cx="20116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17720" y="1508760"/>
            <a:ext cx="2011680" cy="1645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17720" y="1673352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647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4617720" y="2221992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Apps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812280" y="1508760"/>
            <a:ext cx="20116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812280" y="1508760"/>
            <a:ext cx="2011680" cy="1645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12280" y="1673352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6812280" y="2221992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28600" y="2606040"/>
            <a:ext cx="868680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28600" y="2606040"/>
            <a:ext cx="8686800" cy="27432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2633472"/>
            <a:ext cx="8549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Column Reference — TARGET Column Highlighted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92608" y="294436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APP_Name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682496" y="2944368"/>
            <a:ext cx="2852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identifier — dropped before ML modelling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92608" y="321868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682496" y="3218688"/>
            <a:ext cx="2852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category — filtered to GAME genre for this project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292608" y="349300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682496" y="3493008"/>
            <a:ext cx="2852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user rating out of 5.0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292608" y="376732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682496" y="3767328"/>
            <a:ext cx="2852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number of user reviews submitted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292608" y="404164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1682496" y="4041648"/>
            <a:ext cx="2852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size in megabytes — cleaned from M/k suffixes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636008" y="294436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Installs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025896" y="2944368"/>
            <a:ext cx="2852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download count — cleaned from + and , symbols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636008" y="321868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 ★  TARGET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025896" y="3218688"/>
            <a:ext cx="2852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or Paid — Binary Target Column for Classification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636008" y="349300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025896" y="3493008"/>
            <a:ext cx="2852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in USD — 0 for all Free apps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4636008" y="376732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Rating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025896" y="3767328"/>
            <a:ext cx="2852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category — Everyone / Teen / Mature 17+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4636008" y="404164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Ver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025896" y="4041648"/>
            <a:ext cx="2852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Android version required — missing values treated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228600" y="4507992"/>
            <a:ext cx="2743200" cy="21945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28600" y="450799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Missing Values Treated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3127248" y="4507992"/>
            <a:ext cx="2743200" cy="21945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127248" y="450799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Duplicates Removed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6025896" y="4507992"/>
            <a:ext cx="2743200" cy="21945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025896" y="450799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Data Types Corrected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0" y="481888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28600" y="481888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GameVerse Studios  |  Play Store Gaming Analytics  |  ML Capstone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8600" y="73152"/>
            <a:ext cx="4754880" cy="24688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73152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INSIGHT 1  |  Objective A — Monetisation Strategy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28600" y="530352"/>
            <a:ext cx="8686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Has Already Made Its Decision</a:t>
            </a:r>
            <a:endParaRPr lang="en-US" sz="2300" dirty="0"/>
          </a:p>
        </p:txBody>
      </p:sp>
      <p:graphicFrame>
        <p:nvGraphicFramePr>
          <p:cNvPr id="10" name="Chart 0"/>
          <p:cNvGraphicFramePr/>
          <p:nvPr/>
        </p:nvGraphicFramePr>
        <p:xfrm>
          <a:off x="274320" y="1115568"/>
          <a:ext cx="4206240" cy="34015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Shape 8"/>
          <p:cNvSpPr/>
          <p:nvPr/>
        </p:nvSpPr>
        <p:spPr>
          <a:xfrm>
            <a:off x="4663440" y="1115568"/>
            <a:ext cx="4251960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63440" y="1115568"/>
            <a:ext cx="4251960" cy="2743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754880" y="114300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754880" y="146304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93%</a:t>
            </a:r>
            <a:endParaRPr lang="en-US" sz="6600" dirty="0"/>
          </a:p>
        </p:txBody>
      </p:sp>
      <p:sp>
        <p:nvSpPr>
          <p:cNvPr id="15" name="Text 12"/>
          <p:cNvSpPr/>
          <p:nvPr/>
        </p:nvSpPr>
        <p:spPr>
          <a:xfrm>
            <a:off x="6537960" y="160020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gaming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are Free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754880" y="2395728"/>
            <a:ext cx="40690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754880" y="2487168"/>
            <a:ext cx="40690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Observation:  </a:t>
            </a: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overwhelming majority of gaming apps are Free. Free-to-play is the market standard — not the exception.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754880" y="3127248"/>
            <a:ext cx="40690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754880" y="3218688"/>
            <a:ext cx="4069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Decision:  </a:t>
            </a: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Launching as Paid places the new game in a 7% niche. A Free model is the structurally dominant choice for mass market entry.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754880" y="3977640"/>
            <a:ext cx="40690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754880" y="4059936"/>
            <a:ext cx="4069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Aligns with: Objective 1 — Monetisation Strategy Optimisation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0" y="481888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28600" y="481888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GameVerse Studios  |  Play Store Gaming Analytics  |  ML Capstone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8600" y="73152"/>
            <a:ext cx="4754880" cy="24688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73152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INSIGHT 2  |  Objective A — Monetisation Strategy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28600" y="530352"/>
            <a:ext cx="8686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Install Gap Is Structural, Not Marginal</a:t>
            </a:r>
            <a:endParaRPr lang="en-US" sz="2300" dirty="0"/>
          </a:p>
        </p:txBody>
      </p:sp>
      <p:graphicFrame>
        <p:nvGraphicFramePr>
          <p:cNvPr id="10" name="Chart 0"/>
          <p:cNvGraphicFramePr/>
          <p:nvPr/>
        </p:nvGraphicFramePr>
        <p:xfrm>
          <a:off x="274320" y="1115568"/>
          <a:ext cx="5120640" cy="34015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Shape 8"/>
          <p:cNvSpPr/>
          <p:nvPr/>
        </p:nvSpPr>
        <p:spPr>
          <a:xfrm>
            <a:off x="5577840" y="1115568"/>
            <a:ext cx="333756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577840" y="1115568"/>
            <a:ext cx="3337560" cy="16459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23560" y="1316736"/>
            <a:ext cx="32461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15,000,000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5623560" y="1828800"/>
            <a:ext cx="3246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installs — Free apps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577840" y="2267712"/>
            <a:ext cx="333756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577840" y="2267712"/>
            <a:ext cx="3337560" cy="1645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623560" y="2468880"/>
            <a:ext cx="32461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48,000</a:t>
            </a:r>
            <a:endParaRPr lang="en-US" sz="2800" dirty="0"/>
          </a:p>
        </p:txBody>
      </p:sp>
      <p:sp>
        <p:nvSpPr>
          <p:cNvPr id="18" name="Text 15"/>
          <p:cNvSpPr/>
          <p:nvPr/>
        </p:nvSpPr>
        <p:spPr>
          <a:xfrm>
            <a:off x="5623560" y="2980944"/>
            <a:ext cx="3246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installs — Paid apps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577840" y="3429000"/>
            <a:ext cx="3337560" cy="438912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623560" y="3456432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300× 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downloads — Free vs. Paid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5577840" y="3950208"/>
            <a:ext cx="3337560" cy="566928"/>
          </a:xfrm>
          <a:prstGeom prst="rect">
            <a:avLst/>
          </a:prstGeom>
          <a:solidFill>
            <a:srgbClr val="EBF3FB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577840" y="3950208"/>
            <a:ext cx="91440" cy="56692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715000" y="3995928"/>
            <a:ext cx="312724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Decision:  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Paid means voluntarily accepting dramatically lower reach from Day 1. Launch Free.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0" y="481888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28600" y="481888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GameVerse Studios  |  Play Store Gaming Analytics  |  ML Capstone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8600" y="73152"/>
            <a:ext cx="4754880" cy="24688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73152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INSIGHT 3  |  Objective B — Competitive Profiling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28600" y="530352"/>
            <a:ext cx="8686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the Audience — and What Do They Expect?</a:t>
            </a:r>
            <a:endParaRPr lang="en-US" sz="2200" dirty="0"/>
          </a:p>
        </p:txBody>
      </p:sp>
      <p:graphicFrame>
        <p:nvGraphicFramePr>
          <p:cNvPr id="10" name="Chart 0"/>
          <p:cNvGraphicFramePr/>
          <p:nvPr/>
        </p:nvGraphicFramePr>
        <p:xfrm>
          <a:off x="274320" y="1115568"/>
          <a:ext cx="5120640" cy="34015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Shape 8"/>
          <p:cNvSpPr/>
          <p:nvPr/>
        </p:nvSpPr>
        <p:spPr>
          <a:xfrm>
            <a:off x="5577840" y="1115568"/>
            <a:ext cx="333756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577840" y="1115568"/>
            <a:ext cx="91440" cy="98755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715000" y="1207008"/>
            <a:ext cx="31272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'Everyone' Dominates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715000" y="1481328"/>
            <a:ext cx="312724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Hosts the largest volume of gaming apps and skews almost entirely Free — this segment is effectively price-locked by market expectation.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577840" y="2212848"/>
            <a:ext cx="333756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577840" y="2212848"/>
            <a:ext cx="91440" cy="9875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715000" y="2304288"/>
            <a:ext cx="31272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Teen &amp; Mature Show More Paid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715000" y="2578608"/>
            <a:ext cx="312724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two segments show proportionally higher Paid representation — a potential premium niche for a Paid launch strategy.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5577840" y="3310128"/>
            <a:ext cx="333756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577840" y="3310128"/>
            <a:ext cx="91440" cy="9875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715000" y="3401568"/>
            <a:ext cx="31272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Implication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5715000" y="3675888"/>
            <a:ext cx="312724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content rating decision and monetisation decision must be made together. Targeting Everyone = Free. Targeting Teen/Mature = possible Paid.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0" y="481888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28600" y="481888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GameVerse Studios  |  Play Store Gaming Analytics  |  ML Capstone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8600" y="73152"/>
            <a:ext cx="4754880" cy="24688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73152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INSIGHT 4  |  Objective A — Monetisation Strategy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28600" y="530352"/>
            <a:ext cx="8686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Winners All Look the Same</a:t>
            </a:r>
            <a:endParaRPr lang="en-US" sz="2300" dirty="0"/>
          </a:p>
        </p:txBody>
      </p:sp>
      <p:graphicFrame>
        <p:nvGraphicFramePr>
          <p:cNvPr id="10" name="Chart 0"/>
          <p:cNvGraphicFramePr/>
          <p:nvPr/>
        </p:nvGraphicFramePr>
        <p:xfrm>
          <a:off x="274320" y="1115568"/>
          <a:ext cx="8595360" cy="30358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Shape 8"/>
          <p:cNvSpPr/>
          <p:nvPr/>
        </p:nvSpPr>
        <p:spPr>
          <a:xfrm>
            <a:off x="274320" y="4224528"/>
            <a:ext cx="8595360" cy="475488"/>
          </a:xfrm>
          <a:prstGeom prst="rect">
            <a:avLst/>
          </a:prstGeom>
          <a:solidFill>
            <a:srgbClr val="EBF3FB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74320" y="4224528"/>
            <a:ext cx="91440" cy="47548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11480" y="4270248"/>
            <a:ext cx="8366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 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single top-10 most-installed gaming app on the Play Store is Free. No Paid gaming app appears in the top install bracket. Market leadership in gaming is structurally exclusive to the Free model — without exception.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0" y="481888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28600" y="481888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GameVerse Studios  |  Play Store Gaming Analytics  |  ML Capstone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8600" y="73152"/>
            <a:ext cx="4389120" cy="24688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73152"/>
            <a:ext cx="4389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INSIGHT 5  |  Objective A — Price Sensitivity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28600" y="530352"/>
            <a:ext cx="8686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Paid — Price Below $3 or Lose the Market</a:t>
            </a:r>
            <a:endParaRPr lang="en-US" sz="2200" dirty="0"/>
          </a:p>
        </p:txBody>
      </p:sp>
      <p:graphicFrame>
        <p:nvGraphicFramePr>
          <p:cNvPr id="10" name="Chart 0"/>
          <p:cNvGraphicFramePr/>
          <p:nvPr/>
        </p:nvGraphicFramePr>
        <p:xfrm>
          <a:off x="274320" y="1115568"/>
          <a:ext cx="5120640" cy="2880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Shape 8"/>
          <p:cNvSpPr/>
          <p:nvPr/>
        </p:nvSpPr>
        <p:spPr>
          <a:xfrm>
            <a:off x="5577840" y="1115568"/>
            <a:ext cx="333756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669280" y="1170432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$0.99 – $2.99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5669280" y="1536192"/>
            <a:ext cx="3154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Price Band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669280" y="1719072"/>
            <a:ext cx="3154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install volume for all Paid gaming apps — market sweet spot.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577840" y="2066544"/>
            <a:ext cx="333756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669280" y="2121408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 and above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5669280" y="2487168"/>
            <a:ext cx="3154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Demand Cliff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669280" y="2670048"/>
            <a:ext cx="3154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Installs drop sharply. This is where willingness-to-pay breaks down.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577840" y="3017520"/>
            <a:ext cx="333756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5669280" y="3072384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than 4%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5669280" y="3438144"/>
            <a:ext cx="3154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Priced Above $10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669280" y="3621024"/>
            <a:ext cx="3154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Extremely rare — not a viable mainstream pricing strategy.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274320" y="4078224"/>
            <a:ext cx="8595360" cy="603504"/>
          </a:xfrm>
          <a:prstGeom prst="rect">
            <a:avLst/>
          </a:prstGeom>
          <a:solidFill>
            <a:srgbClr val="FEF3C7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74320" y="4078224"/>
            <a:ext cx="91440" cy="60350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11480" y="4133088"/>
            <a:ext cx="83667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Decision:  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GameVerse Studios chooses a Paid launch, the app must be priced in the $0.99–$2.99 range. Pricing above $3 cuts off the majority of willing buyers and pushes the app into a bracket with negligible market presence.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0" y="481888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28600" y="481888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GameVerse Studios  |  Play Store Gaming Analytics  |  ML Capstone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8600" y="73152"/>
            <a:ext cx="4754880" cy="24688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73152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INSIGHT 6  |  Objective B — Competitive Profiling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28600" y="530352"/>
            <a:ext cx="8686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and Size Profile: Free vs. Paid</a:t>
            </a:r>
            <a:endParaRPr lang="en-US" sz="2300" dirty="0"/>
          </a:p>
        </p:txBody>
      </p:sp>
      <p:graphicFrame>
        <p:nvGraphicFramePr>
          <p:cNvPr id="10" name="Chart 0"/>
          <p:cNvGraphicFramePr/>
          <p:nvPr/>
        </p:nvGraphicFramePr>
        <p:xfrm>
          <a:off x="274320" y="1115568"/>
          <a:ext cx="4160520" cy="2423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1" name="Chart 1"/>
          <p:cNvGraphicFramePr/>
          <p:nvPr/>
        </p:nvGraphicFramePr>
        <p:xfrm>
          <a:off x="4709160" y="1115568"/>
          <a:ext cx="4160520" cy="2423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Shape 8"/>
          <p:cNvSpPr/>
          <p:nvPr/>
        </p:nvSpPr>
        <p:spPr>
          <a:xfrm>
            <a:off x="274320" y="3657600"/>
            <a:ext cx="425196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274320" y="3657600"/>
            <a:ext cx="4251960" cy="23774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11480" y="3675888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Are Nearly Equal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411480" y="3931920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and Paid apps both score ~4.1–4.2. Launching as Free does not compromise the game's quality perception or brand reputation in the eyes of users.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754880" y="3657600"/>
            <a:ext cx="425196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754880" y="3657600"/>
            <a:ext cx="4251960" cy="23774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892040" y="3675888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Apps Are Significantly Larger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4892040" y="3931920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apps average 42% more MB. Users expect substantially richer content to justify the purchase price — smaller apps struggle to convert at a Paid price point.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0" y="481888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28600" y="481888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GameVerse Studios  |  Play Store Gaming Analytics  |  ML Capstone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8600" y="73152"/>
            <a:ext cx="4572000" cy="24688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73152"/>
            <a:ext cx="4572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STATISTICAL TESTS  |  Z-Test  +  Chi-Square Test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28600" y="530352"/>
            <a:ext cx="8686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Statistics Is Solving the Business Problem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28600" y="1143000"/>
            <a:ext cx="868680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28600" y="1143000"/>
            <a:ext cx="8686800" cy="2926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16128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TEST 1  —  Two-Sample Z-Test  |  Business Question: Is there a real difference in installs between Free and Paid gaming apps?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20040" y="1481328"/>
            <a:ext cx="6217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H0 (Null):  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significant difference in average install count between Free and Paid gaming apps. Any observed difference is due to random variation.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20040" y="1755648"/>
            <a:ext cx="6217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(Alt):  </a:t>
            </a:r>
            <a:r>
              <a:rPr lang="en-US" sz="9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a significant difference in average install count between Free and Paid gaming apps. The difference is real and not due to chance.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675120" y="1481328"/>
            <a:ext cx="2148840" cy="2560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0" y="148132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H0 REJECTED  |  p &lt; 0.05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675120" y="1773936"/>
            <a:ext cx="2148840" cy="25603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0" y="1773936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Confidence Level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28600" y="2057400"/>
            <a:ext cx="8686800" cy="749808"/>
          </a:xfrm>
          <a:prstGeom prst="rect">
            <a:avLst/>
          </a:prstGeom>
          <a:solidFill>
            <a:srgbClr val="EBF3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" y="2057400"/>
            <a:ext cx="91440" cy="7498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2103120"/>
            <a:ext cx="84582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Decision:  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Statistically proven — Free gaming apps achieve significantly higher installs. This is not a coincidence or data artifact. It is a structural market reality confirmed at 95% confidence. The install advantage of the Free model is real, validated, and directly actionable. </a:t>
            </a:r>
            <a:r>
              <a:rPr lang="en-US" sz="1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GameVerse Studios must launch as Free.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28600" y="2944368"/>
            <a:ext cx="868680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28600" y="2944368"/>
            <a:ext cx="8686800" cy="29260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2962656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TEST 2  —  Chi-Square Test of Independence  |  Business Question: Is Content Rating statistically linked to whether an app is Free or Paid?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20040" y="3282696"/>
            <a:ext cx="6217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H0 (Null):  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Rating and App Type (Free/Paid) are independent. Knowing the content rating gives no information about whether the app is Free or Paid.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20040" y="3557016"/>
            <a:ext cx="6217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(Alt):  </a:t>
            </a:r>
            <a:r>
              <a:rPr lang="en-US" sz="9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Rating and App Type are statistically dependent. There is a significant association between content category and monetisation model.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675120" y="3282696"/>
            <a:ext cx="2148840" cy="2560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75120" y="3282696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H0 REJECTED  |  p &lt; 0.05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675120" y="3575304"/>
            <a:ext cx="2148840" cy="256032"/>
          </a:xfrm>
          <a:prstGeom prst="rect">
            <a:avLst/>
          </a:prstGeom>
          <a:solidFill>
            <a:srgbClr val="E0F8FA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75120" y="3575304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Confidence Level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28600" y="3858768"/>
            <a:ext cx="8686800" cy="749808"/>
          </a:xfrm>
          <a:prstGeom prst="rect">
            <a:avLst/>
          </a:prstGeom>
          <a:solidFill>
            <a:srgbClr val="E0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28600" y="3858768"/>
            <a:ext cx="91440" cy="74980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904488"/>
            <a:ext cx="84582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Decision:  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Rating and monetisation type are statistically linked — these two decisions cannot be made independently. Targeting the 'Everyone' segment statistically commits the launch to a Free model. If GameVerse Studios targets Teen or Mature 17+, a Paid model becomes statistically viable. </a:t>
            </a:r>
            <a:r>
              <a:rPr lang="en-US" sz="1000" b="1" dirty="0">
                <a:solidFill>
                  <a:srgbClr val="00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and pricing must be decided together.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0" y="481888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28600" y="481888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GameVerse Studios  |  Play Store Gaming Analytics  |  ML Capstone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8600" y="73152"/>
            <a:ext cx="4754880" cy="24688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73152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ML MODELS  |  Logistic Regression  +  KNN Classifier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28600" y="530352"/>
            <a:ext cx="8686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ML Is Helping Solve the Business Problem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28600" y="1143000"/>
            <a:ext cx="4206240" cy="3456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28600" y="1143000"/>
            <a:ext cx="4206240" cy="2926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16128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SELECTED  —  Logistic Regression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1536192"/>
            <a:ext cx="4069080" cy="347472"/>
          </a:xfrm>
          <a:prstGeom prst="rect">
            <a:avLst/>
          </a:prstGeom>
          <a:solidFill>
            <a:srgbClr val="EBF3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158191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Accuracy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514600" y="158191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~93%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1920240"/>
            <a:ext cx="40690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19659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514600" y="19659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~92%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304288"/>
            <a:ext cx="4069080" cy="347472"/>
          </a:xfrm>
          <a:prstGeom prst="rect">
            <a:avLst/>
          </a:prstGeom>
          <a:solidFill>
            <a:srgbClr val="EBF3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235000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 Score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514600" y="235000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(&gt; 0.5 baseline)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2688336"/>
            <a:ext cx="40690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" y="273405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514600" y="2734056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— Free class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3072384"/>
            <a:ext cx="4069080" cy="347472"/>
          </a:xfrm>
          <a:prstGeom prst="rect">
            <a:avLst/>
          </a:prstGeom>
          <a:solidFill>
            <a:srgbClr val="EBF3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" y="311810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Interpretable?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514600" y="3118104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via coefficients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3456432"/>
            <a:ext cx="40690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" y="350215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Predictors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514600" y="350215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 →  Installs  →  Reviews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74320" y="3867912"/>
            <a:ext cx="4069080" cy="658368"/>
          </a:xfrm>
          <a:prstGeom prst="rect">
            <a:avLst/>
          </a:prstGeom>
          <a:solidFill>
            <a:srgbClr val="EBF3FB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74320" y="3867912"/>
            <a:ext cx="91440" cy="65836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3913632"/>
            <a:ext cx="385876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Selected: Logistic Regression delivers ~92% accuracy AND explains every prediction in business language. The model tells us Price is the strongest predictor of Type — a finding fully consistent with our EDA and statistical tests. Fully presentable to a non-technical client.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09160" y="1143000"/>
            <a:ext cx="4206240" cy="3456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09160" y="1143000"/>
            <a:ext cx="4206240" cy="2926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00600" y="116128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Classifier  (Optimal K = 10)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54880" y="1536192"/>
            <a:ext cx="4069080" cy="347472"/>
          </a:xfrm>
          <a:prstGeom prst="rect">
            <a:avLst/>
          </a:prstGeom>
          <a:solidFill>
            <a:srgbClr val="F0F4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28032" y="158191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K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903720" y="158191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— via Elbow Curve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54880" y="1920240"/>
            <a:ext cx="40690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28032" y="19659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903720" y="1965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Comparable to LR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754880" y="2304288"/>
            <a:ext cx="4069080" cy="347472"/>
          </a:xfrm>
          <a:prstGeom prst="rect">
            <a:avLst/>
          </a:prstGeom>
          <a:solidFill>
            <a:srgbClr val="F0F4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28032" y="235000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 Score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903720" y="23500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754880" y="2688336"/>
            <a:ext cx="40690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28032" y="273405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903720" y="273405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to LR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754880" y="3072384"/>
            <a:ext cx="4069080" cy="347472"/>
          </a:xfrm>
          <a:prstGeom prst="rect">
            <a:avLst/>
          </a:prstGeom>
          <a:solidFill>
            <a:srgbClr val="F0F4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28032" y="311810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Interpretable?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903720" y="311810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Black Box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754880" y="3456432"/>
            <a:ext cx="40690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28032" y="350215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to Client?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903720" y="35021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Cannot narrate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754880" y="3867912"/>
            <a:ext cx="4069080" cy="658368"/>
          </a:xfrm>
          <a:prstGeom prst="rect">
            <a:avLst/>
          </a:prstGeom>
          <a:solidFill>
            <a:srgbClr val="FEE2E2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4754880" y="3867912"/>
            <a:ext cx="91440" cy="6583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92040" y="3913632"/>
            <a:ext cx="385876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Selected: KNN predicts accurately but cannot explain WHY it made a prediction. In a client presentation, being unable to articulate the reasoning behind the model's decision is a critical business limitation. Logistic Regression wins on interpretability.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C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0" y="481888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28600" y="481888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GameVerse Studios  |  Play Store Gaming Analytics  |  ML Capstone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8600" y="73152"/>
            <a:ext cx="2743200" cy="24688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73152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PROJECT SUMMARY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28600" y="530352"/>
            <a:ext cx="8686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Summary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228600" y="1170432"/>
            <a:ext cx="4297680" cy="1005840"/>
          </a:xfrm>
          <a:prstGeom prst="rect">
            <a:avLst/>
          </a:prstGeom>
          <a:solidFill>
            <a:srgbClr val="1A3356"/>
          </a:solidFill>
          <a:ln w="12700">
            <a:solidFill>
              <a:srgbClr val="253F65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28600" y="1170432"/>
            <a:ext cx="475488" cy="100584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" y="1170432"/>
            <a:ext cx="4754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95528" y="1261872"/>
            <a:ext cx="3639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5528" y="1554480"/>
            <a:ext cx="36393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9,364 Playstore gaming apps analysed across 2010–2018. Filtered to GAME genre. 8,717 Free apps vs. 647 Paid apps. 11 feature columns cleaned and prepared.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28600" y="2286000"/>
            <a:ext cx="4297680" cy="1005840"/>
          </a:xfrm>
          <a:prstGeom prst="rect">
            <a:avLst/>
          </a:prstGeom>
          <a:solidFill>
            <a:srgbClr val="1A3356"/>
          </a:solidFill>
          <a:ln w="12700">
            <a:solidFill>
              <a:srgbClr val="253F65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28600" y="2286000"/>
            <a:ext cx="475488" cy="10058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" y="2286000"/>
            <a:ext cx="4754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795528" y="2377440"/>
            <a:ext cx="3639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— 10 Business Questions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95528" y="2670048"/>
            <a:ext cx="36393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93% of gaming apps are Free. Free apps average 300× more installs. Everyone segment dominates. Top 10 most-installed apps are all Free.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28600" y="3401568"/>
            <a:ext cx="4297680" cy="1005840"/>
          </a:xfrm>
          <a:prstGeom prst="rect">
            <a:avLst/>
          </a:prstGeom>
          <a:solidFill>
            <a:srgbClr val="1A3356"/>
          </a:solidFill>
          <a:ln w="12700">
            <a:solidFill>
              <a:srgbClr val="253F65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28600" y="3401568"/>
            <a:ext cx="475488" cy="1005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8600" y="3401568"/>
            <a:ext cx="4754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795528" y="3493008"/>
            <a:ext cx="3639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Tests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95528" y="3785616"/>
            <a:ext cx="36393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Z-Test rejected H0 — install gap is statistically significant at 95% confidence. Chi-Square rejected H0 — Content Rating and App Type are statistically associated.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09160" y="1170432"/>
            <a:ext cx="4297680" cy="1005840"/>
          </a:xfrm>
          <a:prstGeom prst="rect">
            <a:avLst/>
          </a:prstGeom>
          <a:solidFill>
            <a:srgbClr val="1A3356"/>
          </a:solidFill>
          <a:ln w="12700">
            <a:solidFill>
              <a:srgbClr val="253F65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1170432"/>
            <a:ext cx="475488" cy="10058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1170432"/>
            <a:ext cx="4754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5276088" y="1261872"/>
            <a:ext cx="3639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276088" y="1554480"/>
            <a:ext cx="36393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selected over KNN. Achieves ~92% test accuracy. Top predictors: Price → Installs → Reviews. Fully interpretable and client-presentable.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09160" y="2286000"/>
            <a:ext cx="4297680" cy="1005840"/>
          </a:xfrm>
          <a:prstGeom prst="rect">
            <a:avLst/>
          </a:prstGeom>
          <a:solidFill>
            <a:srgbClr val="1A3356"/>
          </a:solidFill>
          <a:ln w="12700">
            <a:solidFill>
              <a:srgbClr val="253F65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9160" y="2286000"/>
            <a:ext cx="475488" cy="10058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09160" y="2286000"/>
            <a:ext cx="4754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900" dirty="0"/>
          </a:p>
        </p:txBody>
      </p:sp>
      <p:sp>
        <p:nvSpPr>
          <p:cNvPr id="33" name="Text 31"/>
          <p:cNvSpPr/>
          <p:nvPr/>
        </p:nvSpPr>
        <p:spPr>
          <a:xfrm>
            <a:off x="5276088" y="2377440"/>
            <a:ext cx="3639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Recommendation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276088" y="2670048"/>
            <a:ext cx="36393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as FREE targeting the Everyone segment. If Paid: price $0.99–$2.99 and target Teen/Mature 17+ audiences where Paid has proven market presence.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0" y="481888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28600" y="481888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GameVerse Studios  |  Play Store Gaming Analytics  |  ML Capstone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8600" y="73152"/>
            <a:ext cx="4389120" cy="24688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73152"/>
            <a:ext cx="4389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 |  How Each Objective Was Solved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28600" y="530352"/>
            <a:ext cx="8686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— Every Objective Answered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28600" y="1170432"/>
            <a:ext cx="429768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28600" y="1170432"/>
            <a:ext cx="4297680" cy="2743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1752" y="120700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1  —  Monetisation Strategy Optimisation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00400" y="1207008"/>
            <a:ext cx="1261872" cy="219456"/>
          </a:xfrm>
          <a:prstGeom prst="rect">
            <a:avLst/>
          </a:prstGeom>
          <a:solidFill>
            <a:srgbClr val="0F1E35"/>
          </a:solidFill>
          <a:ln w="12700">
            <a:solidFill>
              <a:srgbClr val="0F1E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1207008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FREE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20040" y="1517904"/>
            <a:ext cx="411480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proves 93% of gaming apps are Free. Z-Test statistically confirms Free apps get 300× more installs at 95% confidence. Logistic Regression confirms Price is the #1 predictor — setting it to Free maximises reach.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28600" y="2340864"/>
            <a:ext cx="429768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2340864"/>
            <a:ext cx="4297680" cy="27432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1752" y="237744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2  —  Competitive Monetisation Profiling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200400" y="2377440"/>
            <a:ext cx="1261872" cy="219456"/>
          </a:xfrm>
          <a:prstGeom prst="rect">
            <a:avLst/>
          </a:prstGeom>
          <a:solidFill>
            <a:srgbClr val="0F1E35"/>
          </a:solidFill>
          <a:ln w="12700">
            <a:solidFill>
              <a:srgbClr val="0F1E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0" y="2377440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READY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320040" y="2688336"/>
            <a:ext cx="411480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classifier built at ~92% accuracy. Top 3 predictors — Price, Installs, Reviews — are consistent across EDA, statistical tests, and ML. Model is ready for deployment.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28600" y="3511296"/>
            <a:ext cx="429768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28600" y="3511296"/>
            <a:ext cx="4297680" cy="274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1752" y="354787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3  —  Target Audience Identification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200400" y="3547872"/>
            <a:ext cx="1261872" cy="219456"/>
          </a:xfrm>
          <a:prstGeom prst="rect">
            <a:avLst/>
          </a:prstGeom>
          <a:solidFill>
            <a:srgbClr val="0F1E35"/>
          </a:solidFill>
          <a:ln w="12700">
            <a:solidFill>
              <a:srgbClr val="0F1E3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0" y="3547872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EVERYONE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320040" y="3858768"/>
            <a:ext cx="411480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 test proves Content Rating and Type are statistically associated. The Everyone segment hosts the most apps, the most installs, and the most reviews in the gaming category.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09160" y="1170432"/>
            <a:ext cx="429768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09160" y="1170432"/>
            <a:ext cx="4297680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82312" y="120700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4  —  Price Sensitivity Analysis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7680960" y="1207008"/>
            <a:ext cx="1261872" cy="219456"/>
          </a:xfrm>
          <a:prstGeom prst="rect">
            <a:avLst/>
          </a:prstGeom>
          <a:solidFill>
            <a:srgbClr val="0F1E35"/>
          </a:solidFill>
          <a:ln w="12700">
            <a:solidFill>
              <a:srgbClr val="0F1E3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80960" y="1207008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$0.99 – $2.99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4800600" y="1517904"/>
            <a:ext cx="411480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distribution of Paid gaming apps confirms the highest install volume sits in this bracket. Installs drop sharply above $3. This is the only viable pricing window if a Paid launch is chosen.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09160" y="2340864"/>
            <a:ext cx="429768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09160" y="2340864"/>
            <a:ext cx="4297680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82312" y="237744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5  —  Predictive Classification for Launch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7680960" y="2377440"/>
            <a:ext cx="1261872" cy="219456"/>
          </a:xfrm>
          <a:prstGeom prst="rect">
            <a:avLst/>
          </a:prstGeom>
          <a:solidFill>
            <a:srgbClr val="0F1E35"/>
          </a:solidFill>
          <a:ln w="12700">
            <a:solidFill>
              <a:srgbClr val="0F1E3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680960" y="2377440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READY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4800600" y="2688336"/>
            <a:ext cx="411480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model can classify any new gaming app's optimal monetisation type and explain its decision through feature coefficients. Fully presentable to business stakeholders.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C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87968" y="0"/>
            <a:ext cx="256032" cy="51435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274320"/>
            <a:ext cx="2103120" cy="2103120"/>
          </a:xfrm>
          <a:prstGeom prst="ellipse">
            <a:avLst/>
          </a:prstGeom>
          <a:solidFill>
            <a:srgbClr val="152538"/>
          </a:solidFill>
          <a:ln w="12700">
            <a:solidFill>
              <a:srgbClr val="253F6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14032" y="530352"/>
            <a:ext cx="1591056" cy="1591056"/>
          </a:xfrm>
          <a:prstGeom prst="ellipse">
            <a:avLst/>
          </a:prstGeom>
          <a:solidFill>
            <a:srgbClr val="1A3356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51192" y="667512"/>
            <a:ext cx="1316736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000000"/>
                </a:solidFill>
              </a:rPr>
              <a:t>🎮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6217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8000" dirty="0"/>
          </a:p>
        </p:txBody>
      </p:sp>
      <p:sp>
        <p:nvSpPr>
          <p:cNvPr id="8" name="Shape 6"/>
          <p:cNvSpPr/>
          <p:nvPr/>
        </p:nvSpPr>
        <p:spPr>
          <a:xfrm>
            <a:off x="457200" y="2487168"/>
            <a:ext cx="4754880" cy="36576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1E35"/>
          </a:solidFill>
          <a:ln w="12700">
            <a:solidFill>
              <a:srgbClr val="0F1E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4736592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C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GameVerse Studios  |  Playstore Gaming Analytics  |  ML Capstone  |  Free vs. Paid Classification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2199</Words>
  <Application>Microsoft Office PowerPoint</Application>
  <PresentationFormat>On-screen Show (16:9)</PresentationFormat>
  <Paragraphs>252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Playstore Gaming Analytics — ML Capstone</dc:title>
  <dc:subject>PptxGenJS Presentation</dc:subject>
  <dc:creator>PptxGenJS</dc:creator>
  <cp:lastModifiedBy>Akshit Chouhan</cp:lastModifiedBy>
  <cp:revision>2</cp:revision>
  <dcterms:created xsi:type="dcterms:W3CDTF">2026-04-11T11:32:11Z</dcterms:created>
  <dcterms:modified xsi:type="dcterms:W3CDTF">2026-04-11T11:49:07Z</dcterms:modified>
</cp:coreProperties>
</file>